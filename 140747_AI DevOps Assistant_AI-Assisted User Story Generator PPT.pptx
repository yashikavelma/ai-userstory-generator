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Inter Light"/>
      <p:regular r:id="rId15"/>
      <p:bold r:id="rId16"/>
      <p:italic r:id="rId17"/>
      <p:boldItalic r:id="rId18"/>
    </p:embeddedFont>
    <p:embeddedFont>
      <p:font typeface="Inter SemiBold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  <p:embeddedFont>
      <p:font typeface="Urbanis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8" Type="http://schemas.openxmlformats.org/officeDocument/2006/relationships/font" Target="fonts/Urbanist-bold.fntdata"/><Relationship Id="rId27" Type="http://schemas.openxmlformats.org/officeDocument/2006/relationships/font" Target="fonts/Urbanis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Urbanis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Urbanis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terLight-regular.fntdata"/><Relationship Id="rId14" Type="http://schemas.openxmlformats.org/officeDocument/2006/relationships/slide" Target="slides/slide9.xml"/><Relationship Id="rId17" Type="http://schemas.openxmlformats.org/officeDocument/2006/relationships/font" Target="fonts/InterLight-italic.fntdata"/><Relationship Id="rId16" Type="http://schemas.openxmlformats.org/officeDocument/2006/relationships/font" Target="fonts/InterLight-bold.fntdata"/><Relationship Id="rId19" Type="http://schemas.openxmlformats.org/officeDocument/2006/relationships/font" Target="fonts/InterSemiBold-regular.fntdata"/><Relationship Id="rId18" Type="http://schemas.openxmlformats.org/officeDocument/2006/relationships/font" Target="fonts/InterL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e2dba507d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ee2dba507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9" Type="http://schemas.openxmlformats.org/officeDocument/2006/relationships/image" Target="../media/image18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16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4.png"/><Relationship Id="rId6" Type="http://schemas.openxmlformats.org/officeDocument/2006/relationships/image" Target="../media/image14.png"/><Relationship Id="rId7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hyperlink" Target="https://github.com/users/YashikaVelma/projects/1" TargetMode="External"/><Relationship Id="rId5" Type="http://schemas.openxmlformats.org/officeDocument/2006/relationships/hyperlink" Target="https://github.com/YashikaVelma/ai-userstory-generator/blob/main/.github/workflows/main.yml" TargetMode="External"/><Relationship Id="rId6" Type="http://schemas.openxmlformats.org/officeDocument/2006/relationships/image" Target="../media/image13.png"/><Relationship Id="rId7" Type="http://schemas.openxmlformats.org/officeDocument/2006/relationships/image" Target="../media/image3.png"/><Relationship Id="rId8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60533" y="2151012"/>
            <a:ext cx="7470933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AI DevOps </a:t>
            </a:r>
            <a:r>
              <a:rPr b="1" i="0" lang="en-US" sz="4800" u="none" cap="none" strike="noStrik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Assistant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538412" y="3011983"/>
            <a:ext cx="71151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AI-Assisted User Story Generator: Automating Agile Documentation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538412" y="3853904"/>
            <a:ext cx="71151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Presenter: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Aye Khine Lwin (140747)</a:t>
            </a:r>
            <a:endParaRPr b="0" i="0" sz="120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Subject: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Gestão de Projetos Ágeis (GP_03913)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Instructor: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Professor Miguel Ângelo da Silva</a:t>
            </a:r>
            <a:endParaRPr b="0" i="0" sz="120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Institution: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ISCTE | June </a:t>
            </a:r>
            <a:r>
              <a:rPr lang="en-US" sz="12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87041"/>
            <a:ext cx="5334000" cy="31506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287041"/>
            <a:ext cx="5334000" cy="315069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14400" y="2629941"/>
            <a:ext cx="488061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The Core Problem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14400" y="3106191"/>
            <a:ext cx="46482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Manual backlog refinement and requirement gathering create massive overhead and inconsistencies for Agile teams.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14400" y="4100512"/>
            <a:ext cx="46482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Product Owners spend significant manual effort drafting standardized documentation rather than focusing on strategy.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29400" y="2629941"/>
            <a:ext cx="488061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Project Objective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29400" y="3106191"/>
            <a:ext cx="46482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Build an AI-powered solution to instantly convert rough text ideas into </a:t>
            </a:r>
            <a:r>
              <a:rPr b="0" i="0" lang="en-US" sz="1350" u="none" cap="none" strike="noStrike">
                <a:solidFill>
                  <a:srgbClr val="00FFCC"/>
                </a:solidFill>
                <a:latin typeface="Inter"/>
                <a:ea typeface="Inter"/>
                <a:cs typeface="Inter"/>
                <a:sym typeface="Inter"/>
              </a:rPr>
              <a:t>Professional User Stories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and Acceptance Criteria.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29400" y="4100512"/>
            <a:ext cx="46482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Designed for SME teams (5–15 members) to lower AI adoption barriers and improve sprint efficiency.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Problem &amp; Objective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318146"/>
            <a:ext cx="5334000" cy="308833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2318146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Iterative Execution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57250" y="2689621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Scrum Adoption: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Managed via iterative sprint blocks avoiding monolithic builds.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57250" y="3352502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Pipeline Priority: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Developed MVP Frontend UI first, followed by Groq AI integration.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57250" y="4015382"/>
            <a:ext cx="5048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Kanban Management: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GitHub Projects</a:t>
            </a: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which operated as Kanban 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utilized for strict Todo, In Progress,</a:t>
            </a: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Done</a:t>
            </a: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57250" y="4678279"/>
            <a:ext cx="5048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Core Backlog: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Integration of US01 (UI), US02 (API), and US03 </a:t>
            </a: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and separating them into tasks.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2689621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FFCC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3352502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FFCC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4015382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FFCC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4678263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FFCC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Agile Project Orchestration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5" title="Screenshot 2026-06-21 23243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9500" y="2282250"/>
            <a:ext cx="5490999" cy="3160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42269"/>
            <a:ext cx="3492549" cy="2840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42269"/>
            <a:ext cx="3492549" cy="2840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42269"/>
            <a:ext cx="3492549" cy="2840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27200" y="27280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784223" y="3299519"/>
            <a:ext cx="30671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Frontend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57250" y="3690044"/>
            <a:ext cx="292104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Built with </a:t>
            </a:r>
            <a:r>
              <a:rPr b="0" i="0" lang="en-US" sz="1350" u="none" cap="none" strike="noStrike">
                <a:solidFill>
                  <a:srgbClr val="00FFCC"/>
                </a:solidFill>
                <a:latin typeface="Inter"/>
                <a:ea typeface="Inter"/>
                <a:cs typeface="Inter"/>
                <a:sym typeface="Inter"/>
              </a:rPr>
              <a:t>Streamlit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 rapid prototyping. Simplifies interactive interface generation without complex HTML/CSS overhead.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500" y="27280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4562523" y="3299519"/>
            <a:ext cx="30671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AI Engine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635549" y="3690044"/>
            <a:ext cx="292104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Driven by </a:t>
            </a:r>
            <a:r>
              <a:rPr b="0" i="0" lang="en-US" sz="1350" u="none" cap="none" strike="noStrike">
                <a:solidFill>
                  <a:srgbClr val="00FFCC"/>
                </a:solidFill>
                <a:latin typeface="Inter"/>
                <a:ea typeface="Inter"/>
                <a:cs typeface="Inter"/>
                <a:sym typeface="Inter"/>
              </a:rPr>
              <a:t>Groq API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running Llama-3.3-70b. Engineered prompts force strict "As a... I want... So that..." schemas.</a:t>
            </a:r>
            <a:endParaRPr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83799" y="27280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8340822" y="3299519"/>
            <a:ext cx="30671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Security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413849" y="3690044"/>
            <a:ext cx="29211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Leveraged </a:t>
            </a:r>
            <a:r>
              <a:rPr b="0" i="0" lang="en-US" sz="1350" u="none" cap="none" strike="noStrike">
                <a:solidFill>
                  <a:srgbClr val="00FFCC"/>
                </a:solidFill>
                <a:latin typeface="Inter"/>
                <a:ea typeface="Inter"/>
                <a:cs typeface="Inter"/>
                <a:sym typeface="Inter"/>
              </a:rPr>
              <a:t>Streamlit Secrets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 secure G</a:t>
            </a: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roq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_API_KEY management. Avoids hardcoded tokens in source code.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System Architecture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62000" y="571500"/>
            <a:ext cx="5000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DevOps CI/CD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1609725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Automated quality control via .github/workflows/main.yml triggered on every push.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57250" y="2482155"/>
            <a:ext cx="4667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Checkout: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Pulls latest code iterations.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57250" y="2870745"/>
            <a:ext cx="4667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Setup: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Configures stable Python 3.10 runtime.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57250" y="3259335"/>
            <a:ext cx="4667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Dependencies: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Synchronizes system packages.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57250" y="3647926"/>
            <a:ext cx="4667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Syntax: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Executes py_compile to block bugs.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71500" y="248215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FFCC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571500" y="287074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FFCC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571500" y="325933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FFCC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571500" y="3647926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FFCC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208875" y="1621475"/>
            <a:ext cx="5391300" cy="18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**</a:t>
            </a: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next image will be the code description of CI/CD code that mentioned here.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title="Screenshot 2026-06-22 0000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2855"/>
            <a:ext cx="12039601" cy="6284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54572"/>
            <a:ext cx="5334000" cy="3615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54572"/>
            <a:ext cx="5334000" cy="3615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3612802"/>
            <a:ext cx="46482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914400" y="2397472"/>
            <a:ext cx="488061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Input Prompt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914400" y="2873722"/>
            <a:ext cx="46482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"The use of AI can enhance the performance of software engineering systems"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629400" y="2397472"/>
            <a:ext cx="488061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AI Generated Result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629400" y="2873722"/>
            <a:ext cx="46482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User Story: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As a software engineering lead, I want to integrate AI into our systems to optimize tasks, so that we improve performance and reduce manual errors.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629400" y="3868042"/>
            <a:ext cx="46482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Criteria: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Successful pipeline binding, 20% drop in manual tasks, and 15% latency reduction.</a:t>
            </a:r>
            <a:endParaRPr/>
          </a:p>
        </p:txBody>
      </p:sp>
      <p:pic>
        <p:nvPicPr>
          <p:cNvPr descr="image.png" id="175" name="Google Shape;17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925" y="3622327"/>
            <a:ext cx="4629150" cy="16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Real-Time Output Demo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1595437" y="1757362"/>
            <a:ext cx="9001125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Project </a:t>
            </a:r>
            <a:r>
              <a:rPr b="1" i="0" lang="en-US" sz="4200" u="none" cap="none" strike="noStrik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Conclusions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5619750" y="2681287"/>
            <a:ext cx="952500" cy="1905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1809750" y="2986087"/>
            <a:ext cx="8572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Technical synthesis focuses on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Security-First environments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and refining robust DevOps parameterization to overcome pipeline roadblocks.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1809750" y="3725167"/>
            <a:ext cx="8572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Successful delivery proves that software excellence requires a mixture of smart logic, rigorous validation frameworks, and automated continuous delivery flow.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1809750" y="4654748"/>
            <a:ext cx="8572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FF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Thank you for your attention.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/>
          <p:nvPr/>
        </p:nvSpPr>
        <p:spPr>
          <a:xfrm>
            <a:off x="571500" y="268991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571500" y="347469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571500" y="268896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FFCC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571500" y="346516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571500" y="346516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571500" y="347373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FFCC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571500" y="42499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571500" y="42499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571500" y="4258508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FFCC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1666875" y="2832794"/>
            <a:ext cx="9953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chemeClr val="hlink"/>
                </a:solidFill>
                <a:hlinkClick r:id="rId4"/>
              </a:rPr>
              <a:t>View 1 · @ayekhinelwin_140747_ai-userstory-generator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1666875" y="3078509"/>
            <a:ext cx="99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github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1666875" y="3617565"/>
            <a:ext cx="9953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chemeClr val="hlink"/>
                </a:solidFill>
                <a:hlinkClick r:id="rId5"/>
              </a:rPr>
              <a:t>ai-userstory-generator/.github/workflows/main.yml at main · YashikaVelma/ai-userstory-generator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1666875" y="386328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github.com</a:t>
            </a:r>
            <a:endParaRPr/>
          </a:p>
        </p:txBody>
      </p:sp>
      <p:pic>
        <p:nvPicPr>
          <p:cNvPr descr="image.png" id="206" name="Google Shape;20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0888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1666875" y="440233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https://miro.medium.com/v2/resize:fit:5108/1*pWlj0J1FjA8flxqoWp01QQ.png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1666875" y="464805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medium.com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21" title="Screenshot 2026-06-22 000057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1500" y="3683903"/>
            <a:ext cx="857249" cy="515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 title="Screenshot 2026-06-21 232435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1500" y="2898025"/>
            <a:ext cx="950077" cy="57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